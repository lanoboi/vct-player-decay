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dLbls>
            <c:numFmt formatCode="0.00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Majority Baseline</c:v>
                </c:pt>
                <c:pt idx="1">
                  <c:v>Logistic Regression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0.685</c:v>
                </c:pt>
                <c:pt idx="1">
                  <c:v>0.652</c:v>
                </c:pt>
                <c:pt idx="2">
                  <c:v>0.606</c:v>
                </c:pt>
                <c:pt idx="3">
                  <c:v>0.668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 AUC</c:v>
                </c:pt>
              </c:strCache>
            </c:strRef>
          </c:tx>
          <c:dLbls>
            <c:numFmt formatCode="0.00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Majority Baseline</c:v>
                </c:pt>
                <c:pt idx="1">
                  <c:v>Logistic Regression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0.66</c:v>
                </c:pt>
                <c:pt idx="2">
                  <c:v>0.624</c:v>
                </c:pt>
                <c:pt idx="3">
                  <c:v>0.627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view_of_a_massive_indoor_es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4023360"/>
            <a:ext cx="10972800" cy="2148840"/>
          </a:xfrm>
          <a:prstGeom prst="roundRect">
            <a:avLst/>
          </a:prstGeom>
          <a:solidFill>
            <a:srgbClr val="080C14"/>
          </a:solidFill>
          <a:ln>
            <a:solidFill>
              <a:srgbClr val="505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251960"/>
            <a:ext cx="10424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Predicting Valorant Match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0292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7DFEB"/>
                </a:solidFill>
                <a:latin typeface="Aptos"/>
              </a:defRPr>
            </a:pPr>
            <a:r>
              <a:t>Using historical team performance and match context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5623560"/>
            <a:ext cx="2148840" cy="347472"/>
          </a:xfrm>
          <a:prstGeom prst="round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 3608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5623560"/>
            <a:ext cx="2560320" cy="347472"/>
          </a:xfrm>
          <a:prstGeom prst="round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Binary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5623560"/>
            <a:ext cx="3017520" cy="347472"/>
          </a:xfrm>
          <a:prstGeom prst="roundRect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VCT 2023–2025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Project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What we are trying to predict and why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4805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448056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8348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Problem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Goal: predict whether Team A wins or loses a Valorant match.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The problem is framed as a binary classification task.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The model uses pre-match information only, so predictions reflect a realistic pre-game setting.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The project focuses on comparing algorithms and explaining their tradeoffs, not only chasing one best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5074920" cy="425196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78308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F4FA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514600"/>
            <a:ext cx="4160520" cy="594360"/>
          </a:xfrm>
          <a:prstGeom prst="round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 = Team A Wins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429000"/>
            <a:ext cx="4160520" cy="594360"/>
          </a:xfrm>
          <a:prstGeom prst="round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0 = Team A 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572000"/>
            <a:ext cx="4434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CB7C5"/>
                </a:solidFill>
                <a:latin typeface="Aptos"/>
              </a:defRPr>
            </a:pPr>
            <a:r>
              <a:t>Models can also output win probabilities for interpretation, such as a 64% predicted chance of winning.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Stakeholders and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Who can use the predictions?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29200" cy="1005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73352"/>
            <a:ext cx="411480" cy="411480"/>
          </a:xfrm>
          <a:prstGeom prst="ellipse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4069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Coaches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Prepare for high-risk matchups and target weaknesses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1005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73352"/>
            <a:ext cx="411480" cy="411480"/>
          </a:xfrm>
          <a:prstGeom prst="ellipse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572768"/>
            <a:ext cx="4069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Analysts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Understand which indicators are most predictive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029200" cy="1005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090672"/>
            <a:ext cx="411480" cy="411480"/>
          </a:xfrm>
          <a:prstGeom prst="ellipse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990088"/>
            <a:ext cx="4069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Team Managers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Support scouting, roster, and strategic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5029200" cy="1005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3090672"/>
            <a:ext cx="411480" cy="411480"/>
          </a:xfrm>
          <a:prstGeom prst="ellipse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990088"/>
            <a:ext cx="4069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Commentators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Create data-supported pre-match narratives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0515600" cy="1005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507992"/>
            <a:ext cx="411480" cy="411480"/>
          </a:xfrm>
          <a:prstGeom prst="ellipse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407408"/>
            <a:ext cx="9555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Organizers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Identify competitive matchups for scheduling and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Data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Three yearly Kaggle data subsets from Valorant Champions Tour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514600" cy="12344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3317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4655"/>
                </a:solidFill>
                <a:latin typeface="Aptos Display"/>
              </a:defRPr>
            </a:pPr>
            <a:r>
              <a:t>330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2023 matches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371600"/>
            <a:ext cx="2514600" cy="12344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508760"/>
            <a:ext cx="23317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3196FF"/>
                </a:solidFill>
                <a:latin typeface="Aptos Display"/>
              </a:defRPr>
            </a:pPr>
            <a:r>
              <a:t>434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2024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2514600" cy="12344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23317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46D28C"/>
                </a:solidFill>
                <a:latin typeface="Aptos Display"/>
              </a:defRPr>
            </a:pPr>
            <a:r>
              <a:t>501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2025 matches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1371600"/>
            <a:ext cx="1920240" cy="12344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508760"/>
            <a:ext cx="17373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D25A"/>
                </a:solidFill>
                <a:latin typeface="Aptos Display"/>
              </a:defRPr>
            </a:pPr>
            <a:r>
              <a:t>1265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total matches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10561320" cy="21945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63240"/>
            <a:ext cx="73152" cy="2194560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27832"/>
            <a:ext cx="101498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Dataset Scope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The project uses the 2023, 2024, and 2025 yearly subsets from the VCT Kaggle data.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The data was downloaded, aggregated, cleaned, and transformed into a master modelling dataset.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Using recent seasons keeps the project focused on more current competitive trends and reduces unnecessary complexity.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Project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From raw data to model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965960" cy="2148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1325880"/>
            <a:ext cx="594360" cy="594360"/>
          </a:xfrm>
          <a:prstGeom prst="ellipse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0F4FA"/>
                </a:solidFill>
                <a:latin typeface="Aptos"/>
              </a:defRPr>
            </a:pPr>
            <a:r>
              <a:t>Download &amp; organize</a:t>
            </a:r>
          </a:p>
          <a:p>
            <a:pPr algn="ctr">
              <a:defRPr sz="1150">
                <a:solidFill>
                  <a:srgbClr val="ACB7C5"/>
                </a:solidFill>
                <a:latin typeface="Aptos"/>
              </a:defRPr>
            </a:pPr>
            <a:r>
              <a:t>Selected yearly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42032" y="2606040"/>
            <a:ext cx="411480" cy="365760"/>
          </a:xfrm>
          <a:prstGeom prst="rightArrow">
            <a:avLst/>
          </a:prstGeom>
          <a:solidFill>
            <a:srgbClr val="50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79" y="1874519"/>
            <a:ext cx="1965960" cy="2148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79" y="1325880"/>
            <a:ext cx="594360" cy="594360"/>
          </a:xfrm>
          <a:prstGeom prst="ellipse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4173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14884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0F4FA"/>
                </a:solidFill>
                <a:latin typeface="Aptos"/>
              </a:defRPr>
            </a:pPr>
            <a:r>
              <a:t>Aggregate &amp; clean</a:t>
            </a:r>
          </a:p>
          <a:p>
            <a:pPr algn="ctr">
              <a:defRPr sz="1150">
                <a:solidFill>
                  <a:srgbClr val="ACB7C5"/>
                </a:solidFill>
                <a:latin typeface="Aptos"/>
              </a:defRPr>
            </a:pPr>
            <a:r>
              <a:t>Create master dataset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73752" y="2606040"/>
            <a:ext cx="411480" cy="365760"/>
          </a:xfrm>
          <a:prstGeom prst="rightArrow">
            <a:avLst/>
          </a:prstGeom>
          <a:solidFill>
            <a:srgbClr val="50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57800" y="1874519"/>
            <a:ext cx="1965960" cy="2148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0" y="1325880"/>
            <a:ext cx="594360" cy="594360"/>
          </a:xfrm>
          <a:prstGeom prst="ellipse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4173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14884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0F4FA"/>
                </a:solidFill>
                <a:latin typeface="Aptos"/>
              </a:defRPr>
            </a:pPr>
            <a:r>
              <a:t>Engineer features</a:t>
            </a:r>
          </a:p>
          <a:p>
            <a:pPr algn="ctr">
              <a:defRPr sz="1150">
                <a:solidFill>
                  <a:srgbClr val="ACB7C5"/>
                </a:solidFill>
                <a:latin typeface="Aptos"/>
              </a:defRPr>
            </a:pPr>
            <a:r>
              <a:t>Historical, differential, context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05472" y="2606040"/>
            <a:ext cx="411480" cy="365760"/>
          </a:xfrm>
          <a:prstGeom prst="rightArrow">
            <a:avLst/>
          </a:prstGeom>
          <a:solidFill>
            <a:srgbClr val="50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19" y="1874519"/>
            <a:ext cx="1965960" cy="2148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19" y="1325880"/>
            <a:ext cx="594360" cy="594360"/>
          </a:xfrm>
          <a:prstGeom prst="ellipse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4173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14884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0F4FA"/>
                </a:solidFill>
                <a:latin typeface="Aptos"/>
              </a:defRPr>
            </a:pPr>
            <a:r>
              <a:t>Train models</a:t>
            </a:r>
          </a:p>
          <a:p>
            <a:pPr algn="ctr">
              <a:defRPr sz="1150">
                <a:solidFill>
                  <a:srgbClr val="ACB7C5"/>
                </a:solidFill>
                <a:latin typeface="Aptos"/>
              </a:defRPr>
            </a:pPr>
            <a:r>
              <a:t>Logistic Regression, Random Forest, XGBoost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37192" y="2606040"/>
            <a:ext cx="411480" cy="365760"/>
          </a:xfrm>
          <a:prstGeom prst="rightArrow">
            <a:avLst/>
          </a:prstGeom>
          <a:solidFill>
            <a:srgbClr val="50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21240" y="1874519"/>
            <a:ext cx="1965960" cy="214884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0" y="1325880"/>
            <a:ext cx="594360" cy="594360"/>
          </a:xfrm>
          <a:prstGeom prst="ellipse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14173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148840"/>
            <a:ext cx="1691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0F4FA"/>
                </a:solidFill>
                <a:latin typeface="Aptos"/>
              </a:defRPr>
            </a:pPr>
            <a:r>
              <a:t>Evaluate</a:t>
            </a:r>
          </a:p>
          <a:p>
            <a:pPr algn="ctr">
              <a:defRPr sz="1150">
                <a:solidFill>
                  <a:srgbClr val="ACB7C5"/>
                </a:solidFill>
                <a:latin typeface="Aptos"/>
              </a:defRPr>
            </a:pPr>
            <a:r>
              <a:t>Metrics, tradeoffs, sensitivity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709160"/>
            <a:ext cx="10149840" cy="77724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4709160"/>
            <a:ext cx="73152" cy="777240"/>
          </a:xfrm>
          <a:prstGeom prst="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73752"/>
            <a:ext cx="9738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The notebook contains the full technical detail; the write up summarizes the project according to the rubric.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Turning raw match data into predictive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2926079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Historical Form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Team win rate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Average rating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Map win percentage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2926079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Differential Strength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Win rate difference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Rating difference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Map win percentage difference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4251960"/>
          </a:xfrm>
          <a:prstGeom prst="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2926079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Match Context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Stage stakes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Elimination match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Grand final flag</a:t>
            </a:r>
          </a:p>
          <a:p>
            <a:pPr>
              <a:spcAft>
                <a:spcPts val="700"/>
              </a:spcAft>
              <a:defRPr sz="1600">
                <a:solidFill>
                  <a:srgbClr val="ACB7C5"/>
                </a:solidFill>
                <a:latin typeface="Aptos"/>
              </a:defRPr>
            </a:pPr>
            <a:r>
              <a:t>Draft / ban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7044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25A"/>
                </a:solidFill>
                <a:latin typeface="Aptos"/>
              </a:defRPr>
            </a:pPr>
            <a:r>
              <a:t>Main idea: relative team strength is more useful than raw statistics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Experimental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A time-aware setup to avoid future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638958" cy="502920"/>
          </a:xfrm>
          <a:prstGeom prst="round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9384"/>
            <a:ext cx="263895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44798" y="1828800"/>
            <a:ext cx="3450945" cy="502920"/>
          </a:xfrm>
          <a:prstGeom prst="round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4798" y="1929384"/>
            <a:ext cx="345094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5744" y="1828800"/>
            <a:ext cx="4059936" cy="502920"/>
          </a:xfrm>
          <a:prstGeom prst="round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95744" y="1929384"/>
            <a:ext cx="4059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88920"/>
            <a:ext cx="4206240" cy="502920"/>
          </a:xfrm>
          <a:prstGeom prst="round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Train: 2023 + 2024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788920"/>
            <a:ext cx="3566160" cy="502920"/>
          </a:xfrm>
          <a:prstGeom prst="round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Test: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40480"/>
            <a:ext cx="9966960" cy="15087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3840480"/>
            <a:ext cx="73152" cy="1508760"/>
          </a:xfrm>
          <a:prstGeom prst="rect">
            <a:avLst/>
          </a:prstGeom>
          <a:solidFill>
            <a:srgbClr val="FFD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005072"/>
            <a:ext cx="9555480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0F4FA"/>
                </a:solidFill>
                <a:latin typeface="Aptos"/>
              </a:defRPr>
            </a:pPr>
            <a:r>
              <a:t>Why this matters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Older matches are used for training and newer matches are held out for testing.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Walk-forward validation checks whether models generalize from one season into the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Algorithms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Three approaches plus a simple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983480" cy="141732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82296" cy="1417320"/>
          </a:xfrm>
          <a:prstGeom prst="rect">
            <a:avLst/>
          </a:prstGeom>
          <a:solidFill>
            <a:srgbClr val="5A64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1848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Majority Baseline</a:t>
            </a:r>
          </a:p>
          <a:p>
            <a:pPr>
              <a:defRPr sz="1300">
                <a:solidFill>
                  <a:srgbClr val="ACB7C5"/>
                </a:solidFill>
                <a:latin typeface="Aptos"/>
              </a:defRPr>
            </a:pPr>
            <a:r>
              <a:t>Performance floor; predicts the most common class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4983480" cy="141732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82296" cy="141732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1848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Logistic Regression</a:t>
            </a:r>
          </a:p>
          <a:p>
            <a:pPr>
              <a:defRPr sz="1300">
                <a:solidFill>
                  <a:srgbClr val="ACB7C5"/>
                </a:solidFill>
                <a:latin typeface="Aptos"/>
              </a:defRPr>
            </a:pPr>
            <a:r>
              <a:t>Interpretable model for probability and feature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82296" cy="1417320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3872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Random Forest</a:t>
            </a:r>
          </a:p>
          <a:p>
            <a:pPr>
              <a:defRPr sz="1300">
                <a:solidFill>
                  <a:srgbClr val="ACB7C5"/>
                </a:solidFill>
                <a:latin typeface="Aptos"/>
              </a:defRPr>
            </a:pPr>
            <a:r>
              <a:t>Nonlinear ensemble model that captures feature 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37560"/>
            <a:ext cx="4983480" cy="141732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337560"/>
            <a:ext cx="82296" cy="1417320"/>
          </a:xfrm>
          <a:prstGeom prst="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538728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F4FA"/>
                </a:solidFill>
                <a:latin typeface="Aptos"/>
              </a:defRPr>
            </a:pPr>
            <a:r>
              <a:t>XGBoost</a:t>
            </a:r>
          </a:p>
          <a:p>
            <a:pPr>
              <a:defRPr sz="1300">
                <a:solidFill>
                  <a:srgbClr val="ACB7C5"/>
                </a:solidFill>
                <a:latin typeface="Aptos"/>
              </a:defRPr>
            </a:pPr>
            <a:r>
              <a:t>Boosted tree model designed for stronger tabular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How model performance was judged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32588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  <a:latin typeface="Aptos"/>
              </a:defRPr>
            </a:pPr>
            <a:r>
              <a:t>Accuracy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Overall correctness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32588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1848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  <a:latin typeface="Aptos"/>
              </a:defRPr>
            </a:pPr>
            <a:r>
              <a:t>Precision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How reliable predicted wins 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132588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61848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  <a:latin typeface="Aptos"/>
              </a:defRPr>
            </a:pPr>
            <a:r>
              <a:t>Recall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How many actual wins are 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91839"/>
            <a:ext cx="3246120" cy="132588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9300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  <a:latin typeface="Aptos"/>
              </a:defRPr>
            </a:pPr>
            <a:r>
              <a:t>F1 Score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Balance of precision and 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291839"/>
            <a:ext cx="3246120" cy="132588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49300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0F4FA"/>
                </a:solidFill>
                <a:latin typeface="Aptos"/>
              </a:defRPr>
            </a:pPr>
            <a:r>
              <a:t>ROC AUC</a:t>
            </a:r>
          </a:p>
          <a:p>
            <a:pPr algn="ctr">
              <a:defRPr sz="1200">
                <a:solidFill>
                  <a:srgbClr val="ACB7C5"/>
                </a:solidFill>
                <a:latin typeface="Aptos"/>
              </a:defRPr>
            </a:pPr>
            <a:r>
              <a:t>Ability to separate wins from losses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486400"/>
            <a:ext cx="10698480" cy="658368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486400"/>
            <a:ext cx="73152" cy="658368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102870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ACB7C5"/>
                </a:solidFill>
                <a:latin typeface="Aptos"/>
              </a:defRPr>
            </a:pPr>
            <a:r>
              <a:t>ROC AUC is especially useful because the majority baseline can have a high F1 score while still learning nothing useful.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Final 2025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Model performance on the held-out season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6304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463040"/>
            <a:ext cx="3703320" cy="416052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463040"/>
            <a:ext cx="73152" cy="4160520"/>
          </a:xfrm>
          <a:prstGeom prst="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27632"/>
            <a:ext cx="3291839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Main takeaways</a:t>
            </a:r>
          </a:p>
          <a:p>
            <a:pPr>
              <a:spcAft>
                <a:spcPts val="700"/>
              </a:spcAft>
              <a:defRPr sz="1400">
                <a:solidFill>
                  <a:srgbClr val="ACB7C5"/>
                </a:solidFill>
                <a:latin typeface="Aptos"/>
              </a:defRPr>
            </a:pPr>
            <a:r>
              <a:t>Logistic Regression had the best ROC AUC, meaning it separated likely winners from losers best.</a:t>
            </a:r>
          </a:p>
          <a:p>
            <a:pPr>
              <a:spcAft>
                <a:spcPts val="700"/>
              </a:spcAft>
              <a:defRPr sz="1400">
                <a:solidFill>
                  <a:srgbClr val="ACB7C5"/>
                </a:solidFill>
                <a:latin typeface="Aptos"/>
              </a:defRPr>
            </a:pPr>
            <a:r>
              <a:t>XGBoost had the best F1 score among learned models.</a:t>
            </a:r>
          </a:p>
          <a:p>
            <a:pPr>
              <a:spcAft>
                <a:spcPts val="700"/>
              </a:spcAft>
              <a:defRPr sz="1400">
                <a:solidFill>
                  <a:srgbClr val="ACB7C5"/>
                </a:solidFill>
                <a:latin typeface="Aptos"/>
              </a:defRPr>
            </a:pPr>
            <a:r>
              <a:t>The baseline F1 is misleading because it predicts Team A wins every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Interpretation and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No model is perfect, so the best choice depends on the use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61320" cy="105156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673352"/>
            <a:ext cx="2103120" cy="411480"/>
          </a:xfrm>
          <a:prstGeom prst="round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81912"/>
            <a:ext cx="7543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Best for explanation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Strong ROC AUC and easy to interpret, but may miss nonlinear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34640"/>
            <a:ext cx="10561320" cy="105156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090672"/>
            <a:ext cx="2103120" cy="411480"/>
          </a:xfrm>
          <a:prstGeom prst="round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99232"/>
            <a:ext cx="7543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Middle ground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Handles nonlinear relationships, but performed weaker in this experiment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10561320" cy="1051560"/>
          </a:xfrm>
          <a:prstGeom prst="roundRect">
            <a:avLst/>
          </a:prstGeom>
          <a:solidFill>
            <a:srgbClr val="151C2A"/>
          </a:solidFill>
          <a:ln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4507992"/>
            <a:ext cx="2103120" cy="411480"/>
          </a:xfrm>
          <a:prstGeom prst="round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416552"/>
            <a:ext cx="7543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0F4FA"/>
                </a:solidFill>
                <a:latin typeface="Aptos"/>
              </a:defRPr>
            </a:pPr>
            <a:r>
              <a:t>Best raw F1</a:t>
            </a:r>
          </a:p>
          <a:p>
            <a:pPr>
              <a:defRPr sz="1250">
                <a:solidFill>
                  <a:srgbClr val="ACB7C5"/>
                </a:solidFill>
                <a:latin typeface="Aptos"/>
              </a:defRPr>
            </a:pPr>
            <a:r>
              <a:t>Stronger classification performance, but less transparent and needs careful 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15000"/>
            <a:ext cx="10561320" cy="5943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715000"/>
            <a:ext cx="73152" cy="594360"/>
          </a:xfrm>
          <a:prstGeom prst="rect">
            <a:avLst/>
          </a:prstGeom>
          <a:solidFill>
            <a:srgbClr val="FFD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879592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ACB7C5"/>
                </a:solidFill>
                <a:latin typeface="Aptos"/>
              </a:defRPr>
            </a:pPr>
            <a:r>
              <a:t>Best stakeholder-friendly option: Logistic Regression. Best predictive option by F1: XGBoost.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Limitations and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What the model does not fully capture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2519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4800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0F4FA"/>
                </a:solidFill>
                <a:latin typeface="Aptos"/>
              </a:defRPr>
            </a:pPr>
            <a:r>
              <a:t>Limitations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Season-to-season changes can affect performance: roster changes, meta shifts, coaching changes.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New or less active teams have limited history, creating a cold-start problem.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The model predicts match outcomes, not individual map outcomes or in-series adjustments.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2519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251960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800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0F4FA"/>
                </a:solidFill>
                <a:latin typeface="Aptos"/>
              </a:defRPr>
            </a:pPr>
            <a:r>
              <a:t>Future Work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Add map-specific team performance and opponent strength ratings.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Include player-level form, agent composition, and roster change indicators.</a:t>
            </a:r>
          </a:p>
          <a:p>
            <a:pPr>
              <a:spcAft>
                <a:spcPts val="700"/>
              </a:spcAft>
              <a:defRPr sz="1500">
                <a:solidFill>
                  <a:srgbClr val="ACB7C5"/>
                </a:solidFill>
                <a:latin typeface="Aptos"/>
              </a:defRPr>
            </a:pPr>
            <a:r>
              <a:t>Explore Elo-style regional ratings or more detailed round-by-round momentum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FF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73152"/>
          </a:xfrm>
          <a:prstGeom prst="rect">
            <a:avLst/>
          </a:prstGeom>
          <a:solidFill>
            <a:srgbClr val="3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685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400" b="1">
                <a:solidFill>
                  <a:srgbClr val="F0F4F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ACB7C5"/>
                </a:solidFill>
                <a:latin typeface="Aptos"/>
              </a:defRPr>
            </a:pPr>
            <a:r>
              <a:t>What the project showed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61320" cy="4023360"/>
          </a:xfrm>
          <a:prstGeom prst="roundRect">
            <a:avLst/>
          </a:prstGeom>
          <a:solidFill>
            <a:srgbClr val="151C2A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73152" cy="4023360"/>
          </a:xfrm>
          <a:prstGeom prst="rect">
            <a:avLst/>
          </a:prstGeom>
          <a:solidFill>
            <a:srgbClr val="46D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014984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0F4FA"/>
                </a:solidFill>
                <a:latin typeface="Aptos"/>
              </a:defRPr>
            </a:pPr>
            <a:r>
              <a:t>Final message</a:t>
            </a:r>
          </a:p>
          <a:p>
            <a:pPr>
              <a:spcAft>
                <a:spcPts val="700"/>
              </a:spcAft>
              <a:defRPr sz="1700">
                <a:solidFill>
                  <a:srgbClr val="ACB7C5"/>
                </a:solidFill>
                <a:latin typeface="Aptos"/>
              </a:defRPr>
            </a:pPr>
            <a:r>
              <a:t>The project successfully framed VCT match prediction as a binary classification problem.</a:t>
            </a:r>
          </a:p>
          <a:p>
            <a:pPr>
              <a:spcAft>
                <a:spcPts val="700"/>
              </a:spcAft>
              <a:defRPr sz="1700">
                <a:solidFill>
                  <a:srgbClr val="ACB7C5"/>
                </a:solidFill>
                <a:latin typeface="Aptos"/>
              </a:defRPr>
            </a:pPr>
            <a:r>
              <a:t>Historical team strength and differential features provided useful predictive signal.</a:t>
            </a:r>
          </a:p>
          <a:p>
            <a:pPr>
              <a:spcAft>
                <a:spcPts val="700"/>
              </a:spcAft>
              <a:defRPr sz="1700">
                <a:solidFill>
                  <a:srgbClr val="ACB7C5"/>
                </a:solidFill>
                <a:latin typeface="Aptos"/>
              </a:defRPr>
            </a:pPr>
            <a:r>
              <a:t>Logistic Regression was the strongest for ROC AUC and interpretation.</a:t>
            </a:r>
          </a:p>
          <a:p>
            <a:pPr>
              <a:spcAft>
                <a:spcPts val="700"/>
              </a:spcAft>
              <a:defRPr sz="1700">
                <a:solidFill>
                  <a:srgbClr val="ACB7C5"/>
                </a:solidFill>
                <a:latin typeface="Aptos"/>
              </a:defRPr>
            </a:pPr>
            <a:r>
              <a:t>XGBoost produced the strongest F1 score among learned models.</a:t>
            </a:r>
          </a:p>
          <a:p>
            <a:pPr>
              <a:spcAft>
                <a:spcPts val="700"/>
              </a:spcAft>
              <a:defRPr sz="1700">
                <a:solidFill>
                  <a:srgbClr val="ACB7C5"/>
                </a:solidFill>
                <a:latin typeface="Aptos"/>
              </a:defRPr>
            </a:pPr>
            <a:r>
              <a:t>The results show that pre-match historical data can help predict outcomes, but esports matches remain uncertain and high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561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D8896"/>
                </a:solidFill>
                <a:latin typeface="Aptos"/>
              </a:defRPr>
            </a:pPr>
            <a:r>
              <a:t>COMP 3608 Project  •  Valorant Match Outcome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7D889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Valorant Match Outcomes</dc:title>
  <dc:subject>COMP 3608 Project Presentation</dc:subject>
  <dc:creator>ChatGPT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